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925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EyeGaze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08000"/>
            <a:ext cx="925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B949E"/>
                </a:solidFill>
                <a:latin typeface="Helvetica Neue"/>
              </a:defRPr>
            </a:pPr>
            <a:r>
              <a:t>Real-Time Gaze Estimation with GazeDINO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0000" y="3528000"/>
            <a:ext cx="2772000" cy="3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780000"/>
            <a:ext cx="92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A6FF"/>
                </a:solidFill>
                <a:latin typeface="Helvetica Neue"/>
              </a:defRPr>
            </a:pPr>
            <a:r>
              <a:t>DINOv2 ViT-B/14   ·   MediaPipe FaceMesh   ·   Polynomial Calibration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80000" y="4500000"/>
            <a:ext cx="3132000" cy="792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80000" y="4572000"/>
            <a:ext cx="313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  <a:latin typeface="Helvetica Neue"/>
              </a:defRPr>
            </a:pPr>
            <a:r>
              <a:t>3.24° mean angular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940000"/>
            <a:ext cx="92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Helvetica Neue"/>
              </a:defRPr>
            </a:pPr>
            <a:r>
              <a:t>Emanuele Di Luzio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9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850000"/>
            <a:ext cx="800000" cy="35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Emanuele Di Luzio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2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EyeGaze Inference  —  2/7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3960000" cy="86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1130000"/>
            <a:ext cx="36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Helvetica Neue"/>
              </a:defRPr>
            </a:pPr>
            <a:r>
              <a:t>Input  (B, 3, 224, 224)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480000"/>
            <a:ext cx="3672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Face crop, ImageNet-normalised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32000" y="1908000"/>
            <a:ext cx="216000" cy="18000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000" y="2088000"/>
            <a:ext cx="3960000" cy="86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2138000"/>
            <a:ext cx="36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Helvetica Neue"/>
              </a:defRPr>
            </a:pPr>
            <a:r>
              <a:t>DINOv2 ViT-B/14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488000"/>
            <a:ext cx="3672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86M params, self-supervised on 142M images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232000" y="2916000"/>
            <a:ext cx="216000" cy="18000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000" y="3096000"/>
            <a:ext cx="3960000" cy="86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3146000"/>
            <a:ext cx="36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C8CFF"/>
                </a:solidFill>
                <a:latin typeface="Helvetica Neue"/>
              </a:defRPr>
            </a:pPr>
            <a:r>
              <a:t>CLS Token  [768 dim]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3496000"/>
            <a:ext cx="3672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Global image representation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232000" y="3924000"/>
            <a:ext cx="216000" cy="18000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0000" y="4104000"/>
            <a:ext cx="3960000" cy="86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4154000"/>
            <a:ext cx="36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883E"/>
                </a:solidFill>
                <a:latin typeface="Helvetica Neue"/>
              </a:defRPr>
            </a:pPr>
            <a:r>
              <a:t>MLP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4504000"/>
            <a:ext cx="3672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LN(768) → 512 (GELU, drop 0.30)</a:t>
            </a:r>
            <a:br/>
            <a:r>
              <a:t>→ 128 (GELU, drop 0.15) → 2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232000" y="4932000"/>
            <a:ext cx="216000" cy="18000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0000" y="5112000"/>
            <a:ext cx="3960000" cy="86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000" y="5162000"/>
            <a:ext cx="36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Helvetica Neue"/>
              </a:defRPr>
            </a:pPr>
            <a:r>
              <a:t>Output  (yaw, pitch)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0" y="5512000"/>
            <a:ext cx="3672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Gaze direction in radians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0000" y="1080000"/>
            <a:ext cx="5220000" cy="234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0000" y="1180000"/>
            <a:ext cx="4920000" cy="2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  <a:latin typeface="Helvetica Neue"/>
              </a:defRPr>
            </a:pPr>
            <a:r>
              <a:t>Training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Dataset: GazeGene (56 subjects, 9 cameras, ~90K samples)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Loss: Angular error between 3D gaze vectors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Best validation error: 3.24°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50 epochs, AdamW optimizer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Backbone frozen initially, then fine-tuned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0000" y="3780000"/>
            <a:ext cx="5220000" cy="252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20000" y="3888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  <a:latin typeface="Helvetica Neue"/>
              </a:defRPr>
            </a:pPr>
            <a:r>
              <a:t>Backbone Options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0000" y="439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SF Mono"/>
              </a:defRPr>
            </a:pPr>
            <a:r>
              <a:t>Backbone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0000" y="439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SF Mono"/>
              </a:defRPr>
            </a:pPr>
            <a:r>
              <a:t>Params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000" y="439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SF Mono"/>
              </a:defRPr>
            </a:pPr>
            <a:r>
              <a:t>Embed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0000" y="4752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dinov2_vits14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0000" y="4752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21M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0000" y="4752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384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0000" y="5112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SF Mono"/>
              </a:defRPr>
            </a:pPr>
            <a:r>
              <a:t>dinov2_vitb14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0000" y="5112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SF Mono"/>
              </a:defRPr>
            </a:pPr>
            <a:r>
              <a:t>86M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0000" y="5112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SF Mono"/>
              </a:defRPr>
            </a:pPr>
            <a:r>
              <a:t>768  ← default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0000" y="5472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dinov2_vitl14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60000" y="5472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307M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0000" y="5472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1024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0000" y="5832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dinov2_vitg14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0000" y="5832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1.1B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0000" y="5832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F Mono"/>
              </a:defRPr>
            </a:pPr>
            <a:r>
              <a:t>1536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9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Inference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850000"/>
            <a:ext cx="800000" cy="35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Emanuele Di Luzio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2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EyeGaze Inference  —  3/7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880000" cy="72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1130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  <a:latin typeface="Helvetica Neue"/>
              </a:defRPr>
            </a:pPr>
            <a:r>
              <a:t>Frame (BGR)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430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Webcam or video file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92000" y="1764000"/>
            <a:ext cx="216000" cy="18000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000" y="1944000"/>
            <a:ext cx="2880000" cy="72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1994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8A6FF"/>
                </a:solidFill>
                <a:latin typeface="Helvetica Neue"/>
              </a:defRPr>
            </a:pPr>
            <a:r>
              <a:t>MediaPipe FaceMesh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" y="2294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468 landmarks + iris refinement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692000" y="2628000"/>
            <a:ext cx="216000" cy="18000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000" y="2808000"/>
            <a:ext cx="2880000" cy="72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2858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CFF"/>
                </a:solidFill>
                <a:latin typeface="Helvetica Neue"/>
              </a:defRPr>
            </a:pPr>
            <a:r>
              <a:t>Face Crop  224×224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3158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Bounding box from landmarks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692000" y="3492000"/>
            <a:ext cx="216000" cy="18000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0000" y="3672000"/>
            <a:ext cx="2880000" cy="72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3722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883E"/>
                </a:solidFill>
                <a:latin typeface="Helvetica Neue"/>
              </a:defRPr>
            </a:pPr>
            <a:r>
              <a:t>GazeDINO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4022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(yaw, pitch) in radians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692000" y="4356000"/>
            <a:ext cx="216000" cy="180000"/>
          </a:xfrm>
          <a:prstGeom prst="down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0000" y="4536000"/>
            <a:ext cx="2880000" cy="72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000" y="458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FB950"/>
                </a:solidFill>
                <a:latin typeface="Helvetica Neue"/>
              </a:defRPr>
            </a:pPr>
            <a:r>
              <a:t>EMA Smoothing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000" y="4886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Stable output, α = 0.25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60000" y="1080000"/>
            <a:ext cx="2880000" cy="122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0000" y="1180000"/>
            <a:ext cx="2580000" cy="10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58A6FF"/>
                </a:solidFill>
                <a:latin typeface="Helvetica Neue"/>
              </a:defRPr>
            </a:pPr>
            <a:r>
              <a:t>Iris &amp; Pupillometry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Landmarks 468-477 (iris ring)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iris_ratio = iris_diameter / eye_width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EMA smoothed (α = 0.2)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0000" y="2412000"/>
            <a:ext cx="2880000" cy="122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0000" y="2512000"/>
            <a:ext cx="2580000" cy="10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C8CFF"/>
                </a:solidFill>
                <a:latin typeface="Helvetica Neue"/>
              </a:defRPr>
            </a:pPr>
            <a:r>
              <a:t>Distance Estimation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Cheekbone landmarks (234, 454)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d = (14cm × focal) / face_px_width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Comfort zone: 40–90 cm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60000" y="3744000"/>
            <a:ext cx="2880000" cy="122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0000" y="3844000"/>
            <a:ext cx="2580000" cy="10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0883E"/>
                </a:solidFill>
                <a:latin typeface="Helvetica Neue"/>
              </a:defRPr>
            </a:pPr>
            <a:r>
              <a:t>Head Pose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6-point solvePnP + Rodrigues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Euler angles: yaw, pitch, roll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3D model: nose, chin, eyes, mouth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60000" y="5076000"/>
            <a:ext cx="2880000" cy="1224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0000" y="5176000"/>
            <a:ext cx="2580000" cy="10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85149"/>
                </a:solidFill>
                <a:latin typeface="Helvetica Neue"/>
              </a:defRPr>
            </a:pPr>
            <a:r>
              <a:t>Blink Detection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EAR = Eye Aspect Ratio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Vertical / horizontal landmarks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800" b="0">
                <a:solidFill>
                  <a:srgbClr val="8B949E"/>
                </a:solidFill>
                <a:latin typeface="Helvetica Neue"/>
              </a:defRPr>
            </a:pPr>
            <a:r>
              <a:t>Threshold: 0.21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80000" y="2160000"/>
            <a:ext cx="2880000" cy="1800000"/>
          </a:xfrm>
          <a:prstGeom prst="roundRect">
            <a:avLst/>
          </a:prstGeom>
          <a:solidFill>
            <a:srgbClr val="1C222B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0000" y="2268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Helvetica Neue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0000" y="2700000"/>
            <a:ext cx="25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•  Gaze arrows overlay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•  Screen (x, y) coords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•  Distance + status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•  Pupil dilation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•  Head orientation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9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16-Point Gaze Calibration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850000"/>
            <a:ext cx="800000" cy="35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Emanuele Di Luzio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2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EyeGaze Inference  —  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260000"/>
            <a:ext cx="3060000" cy="30600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2800" y="14328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4328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95800" y="14328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83200" y="14328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2800" y="23202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00200" y="23202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95800" y="23202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83200" y="23202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2800" y="31158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00200" y="31158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95800" y="31158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83200" y="31158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2800" y="40032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00200" y="40032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95800" y="40032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83200" y="4003200"/>
            <a:ext cx="144000" cy="1440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4500000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4×4 grid  •  16 calibration 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40000" y="1260000"/>
            <a:ext cx="6120000" cy="198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0000" y="1360000"/>
            <a:ext cx="5820000" cy="1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FB950"/>
                </a:solidFill>
                <a:latin typeface="Helvetica Neue"/>
              </a:defRPr>
            </a:pPr>
            <a:r>
              <a:t>How It Works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1.  Fullscreen overlay shows 16 dots in 4×4 grid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2.  Follow each dot with your eyes (2.8s per point, ~45s total)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3.  Sample collection starts after 35% of dwell time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4.  Outlier filtering: discard samples &gt; 1.5σ from median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5.  Degree-3 polynomial least-squares fit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6.  Minimum 10 valid points required (out of 16)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7.  Saved to calibration.pkl for reuse across sessions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40000" y="3600000"/>
            <a:ext cx="6120000" cy="1368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0" y="37080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Helvetica Neue"/>
              </a:defRPr>
            </a:pPr>
            <a:r>
              <a:t>Polynomial Features (degree 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414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F Mono"/>
              </a:defRPr>
            </a:pPr>
            <a:r>
              <a:t>[1,  y,  p,  y²,  yp,  p²,  y³,  y²p,  yp²,  p³]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0" y="450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10 coefficients per axis  •  Two fits: features → screen_x, features → screen_y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9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Screen Gaze — Real-Time Overlay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850000"/>
            <a:ext cx="800000" cy="35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Emanuele Di Luzio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2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EyeGaze Inference  —  5/7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152000"/>
            <a:ext cx="4680000" cy="252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0000" y="1252000"/>
            <a:ext cx="4380000" cy="2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FB950"/>
                </a:solidFill>
                <a:latin typeface="Helvetica Neue"/>
              </a:defRPr>
            </a:pPr>
            <a:r>
              <a:t>How It Works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1.  Run 16-point calibration (~45 seconds)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2.  Enable ‘Screen gaze’ toggle in sidebar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3.  Translucent green dot appears on screen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4.  Dot follows your gaze position in real-time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5.  Position smoothed with EMA (α = 0.5)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6.  macOS: truly transparent background (systemTransparent)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8B949E"/>
                </a:solidFill>
                <a:latin typeface="Helvetica Neue"/>
              </a:defRPr>
            </a:pPr>
            <a:r>
              <a:t>7.  Always-on-top overlay, toggleable on/off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960000"/>
            <a:ext cx="9900000" cy="90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4032000"/>
            <a:ext cx="9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Helvetica Neue"/>
              </a:defRPr>
            </a:pPr>
            <a:r>
              <a:t>End-to-End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4392000"/>
            <a:ext cx="9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F Mono"/>
              </a:defRPr>
            </a:pPr>
            <a:r>
              <a:t>GazeDINO → (yaw, pitch) → EMA → Poly3 Calibrator → (screen_x, screen_y) → Position EMA → Overlay Dot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000" y="1152000"/>
            <a:ext cx="4320000" cy="2520000"/>
          </a:xfrm>
          <a:prstGeom prst="roundRect">
            <a:avLst/>
          </a:prstGeom>
          <a:solidFill>
            <a:srgbClr val="0A0A0A"/>
          </a:solidFill>
          <a:ln w="254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0" y="120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63D"/>
                </a:solidFill>
                <a:latin typeface="Helvetica Neue"/>
              </a:defRPr>
            </a:pPr>
            <a:r>
              <a:t>Screen</a:t>
            </a:r>
          </a:p>
        </p:txBody>
      </p:sp>
      <p:sp>
        <p:nvSpPr>
          <p:cNvPr id="13" name="Oval 12"/>
          <p:cNvSpPr/>
          <p:nvPr/>
        </p:nvSpPr>
        <p:spPr>
          <a:xfrm>
            <a:off x="7740000" y="2412000"/>
            <a:ext cx="432000" cy="432000"/>
          </a:xfrm>
          <a:prstGeom prst="ellipse">
            <a:avLst/>
          </a:prstGeom>
          <a:solidFill>
            <a:srgbClr val="3FB9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20000" y="2844000"/>
            <a:ext cx="180000" cy="1800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36000" y="2700000"/>
            <a:ext cx="180000" cy="1800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52000" y="2592000"/>
            <a:ext cx="180000" cy="1800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0000" y="2952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FB950"/>
                </a:solidFill>
                <a:latin typeface="Helvetica Neue"/>
              </a:defRPr>
            </a:pPr>
            <a:r>
              <a:t>gaze 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9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GUI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850000"/>
            <a:ext cx="800000" cy="35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Emanuele Di Luzio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2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EyeGaze Inference  —  6/7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152000"/>
            <a:ext cx="4680000" cy="198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0000" y="1252000"/>
            <a:ext cx="4380000" cy="1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8A6FF"/>
                </a:solidFill>
                <a:latin typeface="Helvetica Neue"/>
              </a:defRPr>
            </a:pPr>
            <a:r>
              <a:t>Dark-Mode Interface (CustomTkinter)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•  Live camera feed with configurable overlays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•  Sidebar: gaze, metrics, calibration, toggles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•  Multi-face support (up to 5 simultaneous faces)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•  Stable face ordering via centroid tracking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•  Video mode: open files, seek bar, play/pause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•  1280×800 default, resizable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312000"/>
            <a:ext cx="2160000" cy="180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3420000"/>
            <a:ext cx="1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Helvetica Neue"/>
              </a:defRPr>
            </a:pPr>
            <a:r>
              <a:t>Overlay Toggles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3852000"/>
            <a:ext cx="18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■  Face box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■  Gaze arrows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■  Iris dots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■  Screen gaze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000" y="3312000"/>
            <a:ext cx="2160000" cy="180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4000" y="3420000"/>
            <a:ext cx="18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883E"/>
                </a:solidFill>
                <a:latin typeface="Helvetica Neue"/>
              </a:defRPr>
            </a:pPr>
            <a:r>
              <a:t>Keyboard Shortcuts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4000" y="3852000"/>
            <a:ext cx="18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SF Mono"/>
              </a:defRPr>
            </a:pPr>
            <a:r>
              <a:t>Q       Quit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SF Mono"/>
              </a:defRPr>
            </a:pPr>
            <a:r>
              <a:t>C       Calibrate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SF Mono"/>
              </a:defRPr>
            </a:pPr>
            <a:r>
              <a:t>Space   Play/Pause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SF Mono"/>
              </a:defRPr>
            </a:pPr>
            <a:r>
              <a:t>← →     Switch 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0000" y="1152000"/>
            <a:ext cx="4680000" cy="396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0000" y="1252000"/>
            <a:ext cx="4380000" cy="3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C8CFF"/>
                </a:solidFill>
                <a:latin typeface="Helvetica Neue"/>
              </a:defRPr>
            </a:pPr>
            <a:r>
              <a:t>Live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0" y="1800000"/>
            <a:ext cx="432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3FB950"/>
                </a:solidFill>
                <a:latin typeface="Helvetica Neue"/>
              </a:defRPr>
            </a:pPr>
            <a:r>
              <a:t>Yaw / Pitch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Model output converted to degrees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3FB950"/>
                </a:solidFill>
                <a:latin typeface="Helvetica Neue"/>
              </a:defRPr>
            </a:pPr>
            <a:r>
              <a:t>Screen XY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After calibration → pixel coordinates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58A6FF"/>
                </a:solidFill>
                <a:latin typeface="Helvetica Neue"/>
              </a:defRPr>
            </a:pPr>
            <a:r>
              <a:t>Distance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Pinhole model, color-coded 40–90 cm zone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BC8CFF"/>
                </a:solidFill>
                <a:latin typeface="Helvetica Neue"/>
              </a:defRPr>
            </a:pPr>
            <a:r>
              <a:t>Iris ratio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Pupillometry proxy for dilation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F0883E"/>
                </a:solidFill>
                <a:latin typeface="Helvetica Neue"/>
              </a:defRPr>
            </a:pPr>
            <a:r>
              <a:t>EAR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Blink detection, threshold 0.21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1">
                <a:solidFill>
                  <a:srgbClr val="F85149"/>
                </a:solidFill>
                <a:latin typeface="Helvetica Neue"/>
              </a:defRPr>
            </a:pPr>
            <a:r>
              <a:t>Head pose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900" b="0">
                <a:solidFill>
                  <a:srgbClr val="8B949E"/>
                </a:solidFill>
                <a:latin typeface="Helvetica Neue"/>
              </a:defRPr>
            </a:pPr>
            <a:r>
              <a:t>solvePnP → yaw, pitch, roll in degrees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9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" y="850000"/>
            <a:ext cx="800000" cy="35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Emanuele Di Luzio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2000" y="7160000"/>
            <a:ext cx="3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30363D"/>
                </a:solidFill>
                <a:latin typeface="Helvetica Neue"/>
              </a:defRPr>
            </a:pPr>
            <a:r>
              <a:t>EyeGaze Inference  —  7/7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152000"/>
            <a:ext cx="4680000" cy="216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0000" y="1252000"/>
            <a:ext cx="4380000" cy="1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A6FF"/>
                </a:solidFill>
                <a:latin typeface="Helvetica Neue"/>
              </a:defRPr>
            </a:pPr>
            <a:r>
              <a:t>Tech Stack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PyTorch + TorchVision — DINOv2 backbone, inference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MediaPipe — FaceMesh 468 landmarks + iris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OpenCV — Video capture, drawing, solvePnP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CustomTkinter — Dark-mode GUI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NumPy — Polynomial fit, EMA, linear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0000" y="1152000"/>
            <a:ext cx="4680000" cy="2160000"/>
          </a:xfrm>
          <a:prstGeom prst="roundRect">
            <a:avLst/>
          </a:prstGeom>
          <a:solidFill>
            <a:srgbClr val="1C222B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0" y="126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Helvetica Neue"/>
              </a:defRPr>
            </a:pPr>
            <a:r>
              <a:t>Key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0" y="1800000"/>
            <a:ext cx="43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3.24°    Mean angular error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86M    DINOv2 ViT-B/14 parameters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16    Calibration points (4×4 grid)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10    Poly coefficients per axis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5    Max simultaneous faces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8B949E"/>
                </a:solidFill>
                <a:latin typeface="Helvetica Neue"/>
              </a:defRPr>
            </a:pPr>
            <a:r>
              <a:t>∼30 fps    Apple Silicon (MPS)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672000"/>
            <a:ext cx="9900000" cy="1260000"/>
          </a:xfrm>
          <a:prstGeom prst="roundRect">
            <a:avLst/>
          </a:prstGeom>
          <a:solidFill>
            <a:srgbClr val="1C222B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3780000"/>
            <a:ext cx="9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 Neue"/>
              </a:defRPr>
            </a:pPr>
            <a:r>
              <a:t>End-to-End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4248000"/>
            <a:ext cx="9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8A6FF"/>
                </a:solidFill>
                <a:latin typeface="SF Mono"/>
              </a:defRPr>
            </a:pPr>
            <a:r>
              <a:t>Webcam  →  MediaPipe FaceMesh  →  Face Crop  →  GazeDINO (yaw, pitch)  →  EMA  →  Poly3 Calibration  →  Screen (x, y)  →  Overlay Dot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5400000"/>
            <a:ext cx="9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Helvetica Neue"/>
              </a:defRPr>
            </a:pPr>
            <a:r>
              <a:t>github.com/emanuelediluzio/eyegaze-inference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